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Premium</c:v>
                </c:pt>
              </c:strCache>
            </c:strRef>
          </c:tx>
          <c:spPr>
            <a:solidFill>
              <a:srgbClr val="1A6B74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Jun'25</c:v>
                </c:pt>
                <c:pt idx="1">
                  <c:v>Jul'25</c:v>
                </c:pt>
                <c:pt idx="2">
                  <c:v>Aug'25</c:v>
                </c:pt>
                <c:pt idx="3">
                  <c:v>Sep'25</c:v>
                </c:pt>
                <c:pt idx="4">
                  <c:v>Oct'25</c:v>
                </c:pt>
                <c:pt idx="5">
                  <c:v>Nov'25</c:v>
                </c:pt>
                <c:pt idx="6">
                  <c:v>Dec'25</c:v>
                </c:pt>
                <c:pt idx="7">
                  <c:v>Jan'26</c:v>
                </c:pt>
                <c:pt idx="8">
                  <c:v>Feb'26</c:v>
                </c:pt>
                <c:pt idx="9">
                  <c:v>Mar'26</c:v>
                </c:pt>
                <c:pt idx="10">
                  <c:v>Apr'26</c:v>
                </c:pt>
                <c:pt idx="11">
                  <c:v>May'26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68</c:v>
                </c:pt>
                <c:pt idx="1">
                  <c:v>70</c:v>
                </c:pt>
                <c:pt idx="2">
                  <c:v>71</c:v>
                </c:pt>
                <c:pt idx="3">
                  <c:v>73</c:v>
                </c:pt>
                <c:pt idx="4">
                  <c:v>74</c:v>
                </c:pt>
                <c:pt idx="5">
                  <c:v>76</c:v>
                </c:pt>
                <c:pt idx="6">
                  <c:v>78</c:v>
                </c:pt>
                <c:pt idx="7">
                  <c:v>79</c:v>
                </c:pt>
                <c:pt idx="8">
                  <c:v>80</c:v>
                </c:pt>
                <c:pt idx="9">
                  <c:v>82</c:v>
                </c:pt>
                <c:pt idx="10">
                  <c:v>84</c:v>
                </c:pt>
                <c:pt idx="11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B-2540-B7E2-5FAD4EA3FD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Standard</c:v>
                </c:pt>
              </c:strCache>
            </c:strRef>
          </c:tx>
          <c:spPr>
            <a:solidFill>
              <a:srgbClr val="28A99E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Jun'25</c:v>
                </c:pt>
                <c:pt idx="1">
                  <c:v>Jul'25</c:v>
                </c:pt>
                <c:pt idx="2">
                  <c:v>Aug'25</c:v>
                </c:pt>
                <c:pt idx="3">
                  <c:v>Sep'25</c:v>
                </c:pt>
                <c:pt idx="4">
                  <c:v>Oct'25</c:v>
                </c:pt>
                <c:pt idx="5">
                  <c:v>Nov'25</c:v>
                </c:pt>
                <c:pt idx="6">
                  <c:v>Dec'25</c:v>
                </c:pt>
                <c:pt idx="7">
                  <c:v>Jan'26</c:v>
                </c:pt>
                <c:pt idx="8">
                  <c:v>Feb'26</c:v>
                </c:pt>
                <c:pt idx="9">
                  <c:v>Mar'26</c:v>
                </c:pt>
                <c:pt idx="10">
                  <c:v>Apr'26</c:v>
                </c:pt>
                <c:pt idx="11">
                  <c:v>May'26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52</c:v>
                </c:pt>
                <c:pt idx="1">
                  <c:v>53</c:v>
                </c:pt>
                <c:pt idx="2">
                  <c:v>54</c:v>
                </c:pt>
                <c:pt idx="3">
                  <c:v>55</c:v>
                </c:pt>
                <c:pt idx="4">
                  <c:v>56</c:v>
                </c:pt>
                <c:pt idx="5">
                  <c:v>57</c:v>
                </c:pt>
                <c:pt idx="6">
                  <c:v>58</c:v>
                </c:pt>
                <c:pt idx="7">
                  <c:v>59</c:v>
                </c:pt>
                <c:pt idx="8">
                  <c:v>60</c:v>
                </c:pt>
                <c:pt idx="9">
                  <c:v>61</c:v>
                </c:pt>
                <c:pt idx="10">
                  <c:v>62</c:v>
                </c:pt>
                <c:pt idx="11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B-2540-B7E2-5FAD4EA3FD1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Basic</c:v>
                </c:pt>
              </c:strCache>
            </c:strRef>
          </c:tx>
          <c:spPr>
            <a:solidFill>
              <a:srgbClr val="3DD9C4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Jun'25</c:v>
                </c:pt>
                <c:pt idx="1">
                  <c:v>Jul'25</c:v>
                </c:pt>
                <c:pt idx="2">
                  <c:v>Aug'25</c:v>
                </c:pt>
                <c:pt idx="3">
                  <c:v>Sep'25</c:v>
                </c:pt>
                <c:pt idx="4">
                  <c:v>Oct'25</c:v>
                </c:pt>
                <c:pt idx="5">
                  <c:v>Nov'25</c:v>
                </c:pt>
                <c:pt idx="6">
                  <c:v>Dec'25</c:v>
                </c:pt>
                <c:pt idx="7">
                  <c:v>Jan'26</c:v>
                </c:pt>
                <c:pt idx="8">
                  <c:v>Feb'26</c:v>
                </c:pt>
                <c:pt idx="9">
                  <c:v>Mar'26</c:v>
                </c:pt>
                <c:pt idx="10">
                  <c:v>Apr'26</c:v>
                </c:pt>
                <c:pt idx="11">
                  <c:v>May'26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58</c:v>
                </c:pt>
                <c:pt idx="1">
                  <c:v>59</c:v>
                </c:pt>
                <c:pt idx="2">
                  <c:v>61</c:v>
                </c:pt>
                <c:pt idx="3">
                  <c:v>62</c:v>
                </c:pt>
                <c:pt idx="4">
                  <c:v>63</c:v>
                </c:pt>
                <c:pt idx="5">
                  <c:v>64</c:v>
                </c:pt>
                <c:pt idx="6">
                  <c:v>64</c:v>
                </c:pt>
                <c:pt idx="7">
                  <c:v>63</c:v>
                </c:pt>
                <c:pt idx="8">
                  <c:v>63</c:v>
                </c:pt>
                <c:pt idx="9">
                  <c:v>63</c:v>
                </c:pt>
                <c:pt idx="10">
                  <c:v>64</c:v>
                </c:pt>
                <c:pt idx="1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B-2540-B7E2-5FAD4EA3FD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Premium</c:v>
                </c:pt>
              </c:strCache>
            </c:strRef>
          </c:tx>
          <c:spPr>
            <a:ln w="31750" cap="flat">
              <a:solidFill>
                <a:srgbClr val="1A6B7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6B74"/>
              </a:solidFill>
              <a:ln w="9525" cap="flat">
                <a:solidFill>
                  <a:srgbClr val="1A6B74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Jul'25</c:v>
                </c:pt>
                <c:pt idx="1">
                  <c:v>Aug'25</c:v>
                </c:pt>
                <c:pt idx="2">
                  <c:v>Sep'25</c:v>
                </c:pt>
                <c:pt idx="3">
                  <c:v>Oct'25</c:v>
                </c:pt>
                <c:pt idx="4">
                  <c:v>Nov'25</c:v>
                </c:pt>
                <c:pt idx="5">
                  <c:v>Dec'25</c:v>
                </c:pt>
                <c:pt idx="6">
                  <c:v>Jan'26</c:v>
                </c:pt>
                <c:pt idx="7">
                  <c:v>Feb'26</c:v>
                </c:pt>
                <c:pt idx="8">
                  <c:v>Mar'26</c:v>
                </c:pt>
                <c:pt idx="9">
                  <c:v>Apr'26</c:v>
                </c:pt>
                <c:pt idx="10">
                  <c:v>May'26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3.1</c:v>
                </c:pt>
                <c:pt idx="1">
                  <c:v>2.9</c:v>
                </c:pt>
                <c:pt idx="2">
                  <c:v>2.8</c:v>
                </c:pt>
                <c:pt idx="3">
                  <c:v>2.7</c:v>
                </c:pt>
                <c:pt idx="4">
                  <c:v>2.6</c:v>
                </c:pt>
                <c:pt idx="5">
                  <c:v>2.5</c:v>
                </c:pt>
                <c:pt idx="6">
                  <c:v>2.5</c:v>
                </c:pt>
                <c:pt idx="7">
                  <c:v>2.4</c:v>
                </c:pt>
                <c:pt idx="8">
                  <c:v>2.2999999999999998</c:v>
                </c:pt>
                <c:pt idx="9">
                  <c:v>2.2000000000000002</c:v>
                </c:pt>
                <c:pt idx="10">
                  <c:v>2.1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ABC-C242-A516-F01154DB99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Standard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Jul'25</c:v>
                </c:pt>
                <c:pt idx="1">
                  <c:v>Aug'25</c:v>
                </c:pt>
                <c:pt idx="2">
                  <c:v>Sep'25</c:v>
                </c:pt>
                <c:pt idx="3">
                  <c:v>Oct'25</c:v>
                </c:pt>
                <c:pt idx="4">
                  <c:v>Nov'25</c:v>
                </c:pt>
                <c:pt idx="5">
                  <c:v>Dec'25</c:v>
                </c:pt>
                <c:pt idx="6">
                  <c:v>Jan'26</c:v>
                </c:pt>
                <c:pt idx="7">
                  <c:v>Feb'26</c:v>
                </c:pt>
                <c:pt idx="8">
                  <c:v>Mar'26</c:v>
                </c:pt>
                <c:pt idx="9">
                  <c:v>Apr'26</c:v>
                </c:pt>
                <c:pt idx="10">
                  <c:v>May'26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4.8</c:v>
                </c:pt>
                <c:pt idx="1">
                  <c:v>4.9000000000000004</c:v>
                </c:pt>
                <c:pt idx="2">
                  <c:v>5.0999999999999996</c:v>
                </c:pt>
                <c:pt idx="3">
                  <c:v>4.7</c:v>
                </c:pt>
                <c:pt idx="4">
                  <c:v>4.8</c:v>
                </c:pt>
                <c:pt idx="5">
                  <c:v>5</c:v>
                </c:pt>
                <c:pt idx="6">
                  <c:v>4.5999999999999996</c:v>
                </c:pt>
                <c:pt idx="7">
                  <c:v>4.7</c:v>
                </c:pt>
                <c:pt idx="8">
                  <c:v>4.8</c:v>
                </c:pt>
                <c:pt idx="9">
                  <c:v>4.5</c:v>
                </c:pt>
                <c:pt idx="10">
                  <c:v>4.5999999999999996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ABC-C242-A516-F01154DB99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Basic</c:v>
                </c:pt>
              </c:strCache>
            </c:strRef>
          </c:tx>
          <c:spPr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Jul'25</c:v>
                </c:pt>
                <c:pt idx="1">
                  <c:v>Aug'25</c:v>
                </c:pt>
                <c:pt idx="2">
                  <c:v>Sep'25</c:v>
                </c:pt>
                <c:pt idx="3">
                  <c:v>Oct'25</c:v>
                </c:pt>
                <c:pt idx="4">
                  <c:v>Nov'25</c:v>
                </c:pt>
                <c:pt idx="5">
                  <c:v>Dec'25</c:v>
                </c:pt>
                <c:pt idx="6">
                  <c:v>Jan'26</c:v>
                </c:pt>
                <c:pt idx="7">
                  <c:v>Feb'26</c:v>
                </c:pt>
                <c:pt idx="8">
                  <c:v>Mar'26</c:v>
                </c:pt>
                <c:pt idx="9">
                  <c:v>Apr'26</c:v>
                </c:pt>
                <c:pt idx="10">
                  <c:v>May'26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7.2</c:v>
                </c:pt>
                <c:pt idx="1">
                  <c:v>7.5</c:v>
                </c:pt>
                <c:pt idx="2">
                  <c:v>7.1</c:v>
                </c:pt>
                <c:pt idx="3">
                  <c:v>7.4</c:v>
                </c:pt>
                <c:pt idx="4">
                  <c:v>7.8</c:v>
                </c:pt>
                <c:pt idx="5">
                  <c:v>7.6</c:v>
                </c:pt>
                <c:pt idx="6">
                  <c:v>7.3</c:v>
                </c:pt>
                <c:pt idx="7">
                  <c:v>7.5</c:v>
                </c:pt>
                <c:pt idx="8">
                  <c:v>7.4</c:v>
                </c:pt>
                <c:pt idx="9">
                  <c:v>7.2</c:v>
                </c:pt>
                <c:pt idx="10">
                  <c:v>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6ABC-C242-A516-F01154DB99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6A-3748-9103-6233F4ECA5AE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6A-3748-9103-6233F4ECA5AE}"/>
              </c:ext>
            </c:extLst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6A-3748-9103-6233F4ECA5AE}"/>
              </c:ext>
            </c:extLst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A6A-3748-9103-6233F4ECA5A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6A-3748-9103-6233F4ECA5A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A6A-3748-9103-6233F4ECA5A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A6A-3748-9103-6233F4ECA5A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A6A-3748-9103-6233F4ECA5A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High (≤7 days)</c:v>
                </c:pt>
                <c:pt idx="1">
                  <c:v>Medium (8–14)</c:v>
                </c:pt>
                <c:pt idx="2">
                  <c:v>Low (15–30)</c:v>
                </c:pt>
                <c:pt idx="3">
                  <c:v>Inactive (&gt;30)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1820</c:v>
                </c:pt>
                <c:pt idx="1">
                  <c:v>1080</c:v>
                </c:pt>
                <c:pt idx="2">
                  <c:v>755</c:v>
                </c:pt>
                <c:pt idx="3">
                  <c:v>576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A6A-3748-9103-6233F4ECA5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Users</c:v>
                </c:pt>
              </c:strCache>
            </c:strRef>
          </c:tx>
          <c:spPr>
            <a:solidFill>
              <a:srgbClr val="1A6B7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FitLife Gyms</c:v>
                </c:pt>
                <c:pt idx="1">
                  <c:v>YogaZone</c:v>
                </c:pt>
                <c:pt idx="2">
                  <c:v>AquaFit</c:v>
                </c:pt>
                <c:pt idx="3">
                  <c:v>CrossFit HQ</c:v>
                </c:pt>
                <c:pt idx="4">
                  <c:v>SpinCycle</c:v>
                </c:pt>
                <c:pt idx="5">
                  <c:v>PeakBox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1248</c:v>
                </c:pt>
                <c:pt idx="1">
                  <c:v>890</c:v>
                </c:pt>
                <c:pt idx="2">
                  <c:v>742</c:v>
                </c:pt>
                <c:pt idx="3">
                  <c:v>680</c:v>
                </c:pt>
                <c:pt idx="4">
                  <c:v>521</c:v>
                </c:pt>
                <c:pt idx="5">
                  <c:v>412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87-A54E-BD60-55ABD4024A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38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8A99E"/>
          </a:solidFill>
          <a:ln w="12700">
            <a:solidFill>
              <a:srgbClr val="28A9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926080"/>
            <a:ext cx="3200400" cy="2217420"/>
          </a:xfrm>
          <a:prstGeom prst="rect">
            <a:avLst/>
          </a:prstGeom>
          <a:solidFill>
            <a:srgbClr val="1A6B74">
              <a:alpha val="40000"/>
            </a:srgbClr>
          </a:solidFill>
          <a:ln w="12700">
            <a:solidFill>
              <a:srgbClr val="1A6B7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2560320" cy="347472"/>
          </a:xfrm>
          <a:prstGeom prst="roundRect">
            <a:avLst>
              <a:gd name="adj" fmla="val 47368"/>
            </a:avLst>
          </a:prstGeom>
          <a:solidFill>
            <a:srgbClr val="1A6B74">
              <a:alpha val="70000"/>
            </a:srgbClr>
          </a:solidFill>
          <a:ln w="12700">
            <a:solidFill>
              <a:srgbClr val="28A9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3DD9C4"/>
                </a:solidFill>
              </a:rPr>
              <a:t>B2B2C FITNESS SAAS  ·  PORTFOLIO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WellTrack</a:t>
            </a: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Analytics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3DD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Intelligence Report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94A3B8"/>
                </a:solidFill>
              </a:rPr>
              <a:t>Subscription Analytics  ·  Churn Prevention  ·  Partner Optimisation  ·  Revenue Intelligence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1920240" cy="1143000"/>
          </a:xfrm>
          <a:prstGeom prst="rect">
            <a:avLst/>
          </a:prstGeom>
          <a:solidFill>
            <a:srgbClr val="1A6B74">
              <a:alpha val="30000"/>
            </a:srgbClr>
          </a:solidFill>
          <a:ln w="12700">
            <a:solidFill>
              <a:srgbClr val="28A99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4,800+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94A3B8"/>
                </a:solidFill>
              </a:rPr>
              <a:t>MEMBER RECORDS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606040" y="3520440"/>
            <a:ext cx="1920240" cy="1143000"/>
          </a:xfrm>
          <a:prstGeom prst="rect">
            <a:avLst/>
          </a:prstGeom>
          <a:solidFill>
            <a:srgbClr val="1A6B74">
              <a:alpha val="30000"/>
            </a:srgbClr>
          </a:solidFill>
          <a:ln w="12700">
            <a:solidFill>
              <a:srgbClr val="28A99E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$214k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4096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94A3B8"/>
                </a:solidFill>
              </a:rPr>
              <a:t>MONTHLY RECURRING REVENUE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1920240" cy="1143000"/>
          </a:xfrm>
          <a:prstGeom prst="rect">
            <a:avLst/>
          </a:prstGeom>
          <a:solidFill>
            <a:srgbClr val="1A6B74">
              <a:alpha val="30000"/>
            </a:srgbClr>
          </a:solidFill>
          <a:ln w="12700">
            <a:solidFill>
              <a:srgbClr val="28A99E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4096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94A3B8"/>
                </a:solidFill>
              </a:rPr>
              <a:t>CHURN RATE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903720" y="3520440"/>
            <a:ext cx="1920240" cy="1143000"/>
          </a:xfrm>
          <a:prstGeom prst="rect">
            <a:avLst/>
          </a:prstGeom>
          <a:solidFill>
            <a:srgbClr val="1A6B74">
              <a:alpha val="30000"/>
            </a:srgbClr>
          </a:solidFill>
          <a:ln w="12700">
            <a:solidFill>
              <a:srgbClr val="28A99E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4096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94A3B8"/>
                </a:solidFill>
              </a:rPr>
              <a:t>AT-RISK MEMBERS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D9C4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" cy="566928"/>
          </a:xfrm>
          <a:prstGeom prst="rect">
            <a:avLst/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78992" y="1005840"/>
            <a:ext cx="7589520" cy="566928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051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Business context, challenges, and analytical objectives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02920" cy="566928"/>
          </a:xfrm>
          <a:prstGeom prst="rect">
            <a:avLst/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78992" y="1783080"/>
            <a:ext cx="7589520" cy="566928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828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Dataset &amp; Schema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Raw data overview, table structure, and data dictionary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02920" cy="566928"/>
          </a:xfrm>
          <a:prstGeom prst="rect">
            <a:avLst/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603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78992" y="2560320"/>
            <a:ext cx="7589520" cy="566928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606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KPI Framework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Which metrics we track and why each was chosen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502920" cy="566928"/>
          </a:xfrm>
          <a:prstGeom prst="rect">
            <a:avLst/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375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78992" y="3337560"/>
            <a:ext cx="7589520" cy="566928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3383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Analysis &amp; Findings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6118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MRR trend, churn by tier, cohort retention, engagement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502920" cy="566928"/>
          </a:xfrm>
          <a:prstGeom prst="rect">
            <a:avLst/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148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78992" y="4114800"/>
            <a:ext cx="7589520" cy="566928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4160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Recommendations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3891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Actionable strategies to reduce churn and grow revenue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01  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Business Challenge Are We Solving?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120640" cy="1371600"/>
          </a:xfrm>
          <a:prstGeom prst="rect">
            <a:avLst/>
          </a:prstGeom>
          <a:solidFill>
            <a:srgbClr val="1A6B74">
              <a:alpha val="25000"/>
            </a:srgbClr>
          </a:solidFill>
          <a:ln w="12700">
            <a:solidFill>
              <a:srgbClr val="28A99E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DD9C4"/>
                </a:solidFill>
              </a:rPr>
              <a:t>Business Context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99339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 err="1">
                <a:solidFill>
                  <a:srgbClr val="FFFFFF"/>
                </a:solidFill>
              </a:rPr>
              <a:t>WellTrack</a:t>
            </a:r>
            <a:r>
              <a:rPr lang="en-US" sz="1100" dirty="0">
                <a:solidFill>
                  <a:srgbClr val="FFFFFF"/>
                </a:solidFill>
              </a:rPr>
              <a:t> operates a B2B2C fitness subscription platform — selling memberships to corporate clients whose employees access partner gyms nationwide. With 4,800+ members across 3 tiers (Basic, Standard, Premium), the platform lacks a unified analytics layer to diagnose revenue risk and member disengagement.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1645920"/>
            <a:ext cx="283464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28A99E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1888" y="1719072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📉  No visibility into which membership tier drives churn — losing $X MRR monthly without knowing why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52160" y="2560320"/>
            <a:ext cx="283464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28A99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1888" y="2633472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⚠️  576 members inactive &gt;14 days with no automated re-engagement — high churn risk unaddressed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0" y="3474720"/>
            <a:ext cx="283464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28A99E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1888" y="3547872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🤝  73% partner utilisation rate — unclear which partners deliver value vs cost burden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4484" y="4434840"/>
            <a:ext cx="8229600" cy="594360"/>
          </a:xfrm>
          <a:prstGeom prst="rect">
            <a:avLst/>
          </a:prstGeom>
          <a:solidFill>
            <a:srgbClr val="3DD9C4">
              <a:alpha val="85000"/>
            </a:srgbClr>
          </a:solidFill>
          <a:ln w="12700">
            <a:solidFill>
              <a:srgbClr val="3DD9C4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9181" y="4425215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OBJECTIVE:  Build an end-to-end analytics layer — schema, KPIs, cohort analysis, engagement scoring — to surface actionable revenue intelligence for product and commercial teams.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D9C4"/>
                </a:solidFill>
              </a:rPr>
              <a:t>02  DATASET &amp; SCHEMA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4-Table PostgreSQL Schema  ·  4,800+ Records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011680" cy="347472"/>
          </a:xfrm>
          <a:prstGeom prst="rect">
            <a:avLst/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08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👤 members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856232"/>
            <a:ext cx="2011680" cy="2432304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74"/>
                </a:solidFill>
              </a:rPr>
              <a:t>member_id  PK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full_name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email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7797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membership_tier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30723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join_date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3364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status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3657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monthly_fee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950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last_checkin_date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50592" y="1508760"/>
            <a:ext cx="2011680" cy="347472"/>
          </a:xfrm>
          <a:prstGeom prst="rect">
            <a:avLst/>
          </a:prstGeom>
          <a:solidFill>
            <a:srgbClr val="1E7E6B"/>
          </a:solidFill>
          <a:ln w="12700">
            <a:solidFill>
              <a:srgbClr val="1E7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1508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💳 invoices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50592" y="1856232"/>
            <a:ext cx="2011680" cy="2139696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7E6B"/>
                </a:solidFill>
              </a:rPr>
              <a:t>invoice_id  PK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42032" y="2194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7E6B"/>
                </a:solidFill>
              </a:rPr>
              <a:t>member_id  FK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42032" y="2487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invoice_date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42032" y="27797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amount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42032" y="30723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status (paid/unpaid)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42032" y="3364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payment_method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42032" y="3657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billing_period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26864" y="1508760"/>
            <a:ext cx="2011680" cy="347472"/>
          </a:xfrm>
          <a:prstGeom prst="rect">
            <a:avLst/>
          </a:prstGeom>
          <a:solidFill>
            <a:srgbClr val="C05A20"/>
          </a:solidFill>
          <a:ln w="12700">
            <a:solidFill>
              <a:srgbClr val="C05A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1508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🏋️ facility_checkins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26864" y="1856232"/>
            <a:ext cx="2011680" cy="2139696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5A20"/>
                </a:solidFill>
              </a:rPr>
              <a:t>checkin_id  PK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18304" y="2194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5A20"/>
                </a:solidFill>
              </a:rPr>
              <a:t>member_id  FK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18304" y="2487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5A20"/>
                </a:solidFill>
              </a:rPr>
              <a:t>facility_id  FK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18304" y="27797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checkin_date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18304" y="30723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checkin_time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18304" y="3364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facility_type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18304" y="3657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duration_mins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03136" y="1508760"/>
            <a:ext cx="2011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1508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🤝 partner_usage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03136" y="1856232"/>
            <a:ext cx="2011680" cy="2139696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94576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usage_id  PK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94576" y="2194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member_id  FK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894576" y="2487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partner_id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94576" y="27797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partner_name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94576" y="30723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usage_date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94576" y="3364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visit_count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894576" y="3657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cost_to_platform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4206240"/>
            <a:ext cx="859536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2336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6B74"/>
                </a:solidFill>
              </a:rPr>
              <a:t>Entity Relationships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57200" y="44439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members (1:N) invoices  ·  one member has many monthly invoices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members (1:N) facility_checkins  ·  one member has many gym visits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members (1:N) partner_usage  ·  one member accesses many partner facilities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D9C4"/>
                </a:solidFill>
              </a:rPr>
              <a:t>02  RAW DATASET — SAMPLE RECORDS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Representative data extracted from the members &amp; invoices tables: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7498080" cy="175564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member_id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membership_tier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join_date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monthly_fee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last_checkin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Premium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2023-01-15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$79.00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2026-05-18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Basic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2023-03-02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$29.00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2026-05-03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1003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Standard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2023-06-20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$49.00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2026-04-30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1004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Premium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2023-02-10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churned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$79.00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2026-02-28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1005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Basic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2024-01-05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$29.00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2026-05-01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365760" y="2971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Sample invoice records: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73552"/>
          <a:ext cx="749808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invoice_id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member_id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invoice_date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payment_method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INV-5501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2026-05-01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$79.00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paid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credit_card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INV-5502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2026-05-01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$29.00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paid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bank_transfer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INV-5503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1003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2026-05-01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$49.00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unpaid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credit_card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INV-5504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1005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2026-05-01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$29.00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paid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paypal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INV-5505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1008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2026-05-01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$49.00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paid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credit_card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Full dataset: 4,800 member records  ·  ~57,600 monthly invoice records  ·  PostgreSQL 15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D9C4"/>
                </a:solidFill>
              </a:rPr>
              <a:t>03  KPI FRAMEWORK — WHY THESE METRICS?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KPI maps directly to a board-level business question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206240" cy="1078992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73152" cy="1078992"/>
          </a:xfrm>
          <a:prstGeom prst="rect">
            <a:avLst/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481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74"/>
                </a:solidFill>
              </a:rPr>
              <a:t>MRR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83664" y="14904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Monthly Recurring Revenue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0624" y="174650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827"/>
                </a:solidFill>
              </a:rPr>
              <a:t>The single most important SaaS metric — measures predictable revenue health. Stakeholders need MRR to forecast cash flow, set growth targets, and benchmark unit economics.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22585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A6B74"/>
                </a:solidFill>
              </a:rPr>
              <a:t>Formula: SUM(amount) WHERE status='paid' GROUP BY billing_month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206240" cy="1078992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17320"/>
            <a:ext cx="73152" cy="1078992"/>
          </a:xfrm>
          <a:prstGeom prst="rect">
            <a:avLst/>
          </a:prstGeom>
          <a:solidFill>
            <a:srgbClr val="C05A20"/>
          </a:solidFill>
          <a:ln w="12700">
            <a:solidFill>
              <a:srgbClr val="C05A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1481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A20"/>
                </a:solidFill>
              </a:rPr>
              <a:t>Churn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18504" y="14904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Monthly Member Churn 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55464" y="174650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827"/>
                </a:solidFill>
              </a:rPr>
              <a:t>Churn directly erodes MRR. Segmenting by tier reveals whether pricing, product, or experience drives cancellations — enabling targeted retention spend.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55464" y="22585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05A20"/>
                </a:solidFill>
              </a:rPr>
              <a:t>Formula: churned_members / active_start_of_month × 100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4206240" cy="1078992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06040"/>
            <a:ext cx="7315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6700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ARPU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83664" y="26791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Avg Revenue Per User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0624" y="29352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827"/>
                </a:solidFill>
              </a:rPr>
              <a:t>ARPU exposes monetisation efficiency. If Premium members are only 20% of base but 45% of MRR, upsell campaigns have measurable ROI.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0624" y="344728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C3AED"/>
                </a:solidFill>
              </a:rPr>
              <a:t>Formula: MRR / COUNT(active_member_id)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09160" y="2606040"/>
            <a:ext cx="4206240" cy="1078992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606040"/>
            <a:ext cx="73152" cy="1078992"/>
          </a:xfrm>
          <a:prstGeom prst="rect">
            <a:avLst/>
          </a:prstGeom>
          <a:solidFill>
            <a:srgbClr val="1E7E6B"/>
          </a:solidFill>
          <a:ln w="12700">
            <a:solidFill>
              <a:srgbClr val="1E7E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5464" y="26700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E6B"/>
                </a:solidFill>
              </a:rPr>
              <a:t>Cohort Retention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18504" y="26791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12-Month Retention Heatmap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55464" y="29352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827"/>
                </a:solidFill>
              </a:rPr>
              <a:t>Aggregated churn hides problems. Cohort analysis shows exactly which join-month groups decay fastest — informing onboarding improvements.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55464" y="344728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7E6B"/>
                </a:solidFill>
              </a:rPr>
              <a:t>Formula: active_in_month_N / cohort_size × 100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3794760"/>
            <a:ext cx="4206240" cy="1078992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794760"/>
            <a:ext cx="73152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Engagement Tier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83664" y="38679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Activity Scoring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0624" y="412394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827"/>
                </a:solidFill>
              </a:rPr>
              <a:t>A member who hasn't checked in for 14 days is likely to churn. Flagging 576 at-risk members creates a ready-made CRM list for the retention team.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0624" y="463600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59E0B"/>
                </a:solidFill>
              </a:rPr>
              <a:t>Formula: CASE WHEN days_inactive ≤7 THEN High … END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09160" y="3794760"/>
            <a:ext cx="4206240" cy="1078992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794760"/>
            <a:ext cx="73152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55464" y="3858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Partner Util.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18504" y="38679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Partner Utilisation Rate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55464" y="412394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827"/>
                </a:solidFill>
              </a:rPr>
              <a:t>Partners are a cost centre. At 73% utilisation, understanding which partners attract members vs drain cost informs contract renegotiations.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55464" y="463600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F4444"/>
                </a:solidFill>
              </a:rPr>
              <a:t>Formula: DISTINCT partner_users / active_members × 100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03  KPI SNAPSHOT — KEY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Representative outputs computed by 6 production SQL queries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65176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8A99E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2763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D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$214k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22677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↑ 3.2% MoM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5054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94A3B8"/>
                </a:solidFill>
              </a:rPr>
              <a:t>MONTHLY RECURRING REVENUE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54680" y="1463040"/>
            <a:ext cx="265176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8A99E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62763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154680" y="22677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monthly avg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25054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94A3B8"/>
                </a:solidFill>
              </a:rPr>
              <a:t>OVERALL CHURN RATE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89320" y="1463040"/>
            <a:ext cx="265176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8A99E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62763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D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4,231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989320" y="22677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of 4,800 total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89320" y="25054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94A3B8"/>
                </a:solidFill>
              </a:rPr>
              <a:t>ACTIVE MEMBERS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65176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8A99E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8211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$50.6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20040" y="38221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avg / user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40599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94A3B8"/>
                </a:solidFill>
              </a:rPr>
              <a:t>ARPU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54680" y="3017520"/>
            <a:ext cx="265176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8A99E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318211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576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154680" y="38221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&gt;14 days inactive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54680" y="40599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94A3B8"/>
                </a:solidFill>
              </a:rPr>
              <a:t>AT-RISK MEMBERS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89320" y="3017520"/>
            <a:ext cx="265176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8A99E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318211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D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989320" y="38221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of active members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40599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94A3B8"/>
                </a:solidFill>
              </a:rPr>
              <a:t>PARTNER UTILISATION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D9C4"/>
                </a:solidFill>
              </a:rPr>
              <a:t>04  ANALYSIS — MRR TREND BY TIER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914400"/>
            <a:ext cx="2743200" cy="3566160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10241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📊 Key 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63640" y="137160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11827"/>
                </a:solidFill>
              </a:rPr>
              <a:t>MRR grew from $178k → $214k (+20.2%) over 12 months, driven primarily by Premium tier expansion.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11827"/>
                </a:solidFill>
              </a:rPr>
              <a:t>Premium is now 40% of total MRR despite being ~28% of member base — validating the higher price point.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11827"/>
                </a:solidFill>
              </a:rPr>
              <a:t>Basic tier MRR plateaued since Oct '25, signalling saturation in the entry segment.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Query 1: MRR Trend used DATE_TRUNC + LAG() window function for MoM growth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D9C4"/>
                </a:solidFill>
              </a:rPr>
              <a:t>04  ANALYSIS — CHURN RATE BY MEMBERSHIP TIER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914400"/>
            <a:ext cx="2560320" cy="960120"/>
          </a:xfrm>
          <a:prstGeom prst="rect">
            <a:avLst/>
          </a:prstGeom>
          <a:solidFill>
            <a:srgbClr val="F4F8FB"/>
          </a:solidFill>
          <a:ln w="12700">
            <a:solidFill>
              <a:srgbClr val="1A6B74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0" y="914400"/>
            <a:ext cx="64008" cy="960120"/>
          </a:xfrm>
          <a:prstGeom prst="rect">
            <a:avLst/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9875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Premium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0" y="12435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0" y="1371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↓ Lowest churn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217920" y="2011680"/>
            <a:ext cx="2560320" cy="960120"/>
          </a:xfrm>
          <a:prstGeom prst="rect">
            <a:avLst/>
          </a:prstGeom>
          <a:solidFill>
            <a:srgbClr val="F4F8FB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201168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Standard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0" y="23408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498080" y="24688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Mid-range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217920" y="3108960"/>
            <a:ext cx="2560320" cy="960120"/>
          </a:xfrm>
          <a:prstGeom prst="rect">
            <a:avLst/>
          </a:prstGeom>
          <a:solidFill>
            <a:srgbClr val="F4F8FB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3108960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31821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Basic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0" y="343814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498080" y="35661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↑ Highest risk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2793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⚡ Finding: Basic tier churns at 3.3× the rate of Premium. Every 1% churn reduction in Basic would retain ~42 members and recover ~$1,200/month in MRR.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D9C4"/>
                </a:solidFill>
              </a:rPr>
              <a:t>04  ANALYSIS — 12-MONTH COHORT RETENTION HEATMAP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tier retains 18% better than Basic at month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A6B74"/>
                </a:solidFill>
              </a:rPr>
              <a:t>PREMIUM TIER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72768"/>
          <a:ext cx="8001000" cy="14630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Cohort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M2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M3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M4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M6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M9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M12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</a:rPr>
                        <a:t>Jan'25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88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82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74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54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E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</a:rPr>
                        <a:t>Mar'25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87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81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E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</a:rPr>
                        <a:t>Jun'25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89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84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79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</a:rPr>
                        <a:t>Sep'25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90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85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80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2852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EF4444"/>
                </a:solidFill>
              </a:rPr>
              <a:t>BASIC TIER</a:t>
            </a:r>
            <a:endParaRPr lang="en-US" sz="8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90672"/>
          <a:ext cx="8001000" cy="14630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Cohort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M2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M3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M4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M6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M9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M12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</a:rPr>
                        <a:t>Jan'25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79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54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E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E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E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</a:rPr>
                        <a:t>Mar'25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E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E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E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</a:rPr>
                        <a:t>Jun'25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80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E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E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</a:rPr>
                        <a:t>Sep'25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81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9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52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E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E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At M6: Premium ~68% retained vs Basic ~48% — an 18-point gap. Built using CTEs + window functions. Query 3.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D9C4"/>
                </a:solidFill>
              </a:rPr>
              <a:t>04  ANALYSIS — ENGAGEMENT SCORING &amp; PARTNER UTILISATION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Engagement Distribution (4,231 active members)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144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Partner Utilisation — Top 6 Partners</a:t>
            </a:r>
            <a:endParaRPr lang="en-US" sz="11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572000" y="1234440"/>
          <a:ext cx="4297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F4F8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⚡ 576 members (13.6%) are Inactive — top priority for re-engagement campaign. FitLife Gyms alone accounts for 29.5% of all partner visits.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04  KEY FINDINGS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tells us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3DD9C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57200" cy="603504"/>
          </a:xfrm>
          <a:prstGeom prst="rect">
            <a:avLst/>
          </a:prstGeom>
          <a:solidFill>
            <a:srgbClr val="3DD9C4"/>
          </a:solidFill>
          <a:ln w="12700">
            <a:solidFill>
              <a:srgbClr val="3DD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5179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9C4"/>
                </a:solidFill>
              </a:rPr>
              <a:t>MRR is growing — but unevenly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77640" y="1508760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Total MRR up 20.2% YoY to $214k. Premium tier driving 40% of MRR from 28% of members. Basic tier has plateaued since Oct '25.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841248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67128"/>
            <a:ext cx="457200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671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2219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Basic churn is a critical revenue leak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77640" y="2212848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Basic churn (7.0%) is 3.3× Premium churn (2.1%). With ~1,600 Basic members, each 1% improvement = $464/month recovered.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871216"/>
            <a:ext cx="841248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457200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92608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Premium retention advantage is product-proven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77640" y="2916936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Premium cohorts retain 18% better at month 6 (68% vs 48%). This validates product-market fit at the higher tier and supports upsell investment.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575304"/>
            <a:ext cx="841248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75304"/>
            <a:ext cx="457200" cy="6035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7530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63016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</a:rPr>
              <a:t>576 at-risk members identified — actionable now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77640" y="3621024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13.6% of active members have not checked in for &gt;14 days. This CASE-scored list is ready for CRM export and targeted re-engagement campaigns.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279392"/>
            <a:ext cx="841248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279392"/>
            <a:ext cx="457200" cy="6035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7939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433425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Partner concentration risk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977640" y="4325112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Top 2 partners (FitLife + YogaZone) account for 50.5% of all visits. Over-dependence on 2 partners creates negotiation leverage risk.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D9C4"/>
                </a:solidFill>
              </a:rPr>
              <a:t>05 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Data-Driven Actions for Growth &amp; Retention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786384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64008" cy="786384"/>
          </a:xfrm>
          <a:prstGeom prst="rect">
            <a:avLst/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72184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🎯 R1 — Launch Basic-Tier Re-Engagement Campaign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89320" y="14904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6B74"/>
                </a:solidFill>
              </a:rPr>
              <a:t>HIGH PRIORITY · Immediate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827"/>
                </a:solidFill>
              </a:rPr>
              <a:t>Action: Export the 576 at-risk members (engagement_tier = Low/Inactive) and run a targeted email + push notification campaign. Offer a 2-week personal trainer session or partner guest pass.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23560" y="17373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1A6B74"/>
                </a:solidFill>
              </a:rPr>
              <a:t>💰 If 30% re-engage → ~$5,000 MRR protected. Cost: minimal (CRM export is already built).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8503920" cy="786384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04288"/>
            <a:ext cx="64008" cy="7863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5915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⬆️ R2 — Accelerate Basic → Standard Upsell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89320" y="2377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C3AED"/>
                </a:solidFill>
              </a:rPr>
              <a:t>HIGH PRIORITY · 30 days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26243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827"/>
                </a:solidFill>
              </a:rPr>
              <a:t>Action: Basic ARPU is $29 vs Standard $49 (+69%). Build an in-app upgrade funnel triggered at month 3 (when retention curves diverge). A/B test price anchoring with cohort retention data.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23560" y="26243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7C3AED"/>
                </a:solidFill>
              </a:rPr>
              <a:t>💰 Converting 200 Basic → Standard members = +$4,000/month incremental MRR.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191256"/>
            <a:ext cx="8503920" cy="786384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191256"/>
            <a:ext cx="64008" cy="786384"/>
          </a:xfrm>
          <a:prstGeom prst="rect">
            <a:avLst/>
          </a:prstGeom>
          <a:solidFill>
            <a:srgbClr val="C05A20"/>
          </a:solidFill>
          <a:ln w="12700">
            <a:solidFill>
              <a:srgbClr val="C05A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246120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🤝 R3 — Renegotiate Partner Contracts Based on Utilisation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89320" y="32644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05A20"/>
                </a:solidFill>
              </a:rPr>
              <a:t>MEDIUM · 60 days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" y="35112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827"/>
                </a:solidFill>
              </a:rPr>
              <a:t>Action: FitLife Gyms &amp; YogaZone have outsized demand. Use visit_count and cost_to_platform data to negotiate volume discounts. De-prioritise or terminate the bottom 2 partners by utilisation.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23560" y="351129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C05A20"/>
                </a:solidFill>
              </a:rPr>
              <a:t>💰 Estimated 8–12% reduction in partner cost line, improving platform margin.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4078224"/>
            <a:ext cx="8503920" cy="786384"/>
          </a:xfrm>
          <a:prstGeom prst="rect">
            <a:avLst/>
          </a:prstGeom>
          <a:solidFill>
            <a:srgbClr val="F4F8FB"/>
          </a:solidFill>
          <a:ln w="12700">
            <a:solidFill>
              <a:srgbClr val="EBF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078224"/>
            <a:ext cx="64008" cy="786384"/>
          </a:xfrm>
          <a:prstGeom prst="rect">
            <a:avLst/>
          </a:prstGeom>
          <a:solidFill>
            <a:srgbClr val="1E7E6B"/>
          </a:solidFill>
          <a:ln w="12700">
            <a:solidFill>
              <a:srgbClr val="1E7E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133088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📊 R4 — Operationalise the Analytics Layer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89320" y="41513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7E6B"/>
                </a:solidFill>
              </a:rPr>
              <a:t>ONGOING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" y="439826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827"/>
                </a:solidFill>
              </a:rPr>
              <a:t>Action: Schedule the 6 SQL queries as weekly automated reports (e.g. via dbt + Airflow). Build a live Tableau dashboard with alert triggers: churn &gt;6%, MRR MoM &lt;1%, at-risk count &gt;600.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23560" y="43982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1E7E6B"/>
                </a:solidFill>
              </a:rPr>
              <a:t>💰 Moves team from reactive to proactive — catching issues 4–6 weeks earlier.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8A99E"/>
          </a:solidFill>
          <a:ln w="12700">
            <a:solidFill>
              <a:srgbClr val="28A9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8A99E"/>
          </a:solidFill>
          <a:ln w="12700">
            <a:solidFill>
              <a:srgbClr val="28A9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3DD9C4"/>
                </a:solidFill>
              </a:rPr>
              <a:t>✓  </a:t>
            </a:r>
            <a:r>
              <a:rPr lang="en-US" sz="1150" dirty="0">
                <a:solidFill>
                  <a:srgbClr val="FFFFFF"/>
                </a:solidFill>
              </a:rPr>
              <a:t>4,800+ member records modelled across 4 normalised PostgreSQL tables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3DD9C4"/>
                </a:solidFill>
              </a:rPr>
              <a:t>✓  </a:t>
            </a:r>
            <a:r>
              <a:rPr lang="en-US" sz="1150" dirty="0">
                <a:solidFill>
                  <a:srgbClr val="FFFFFF"/>
                </a:solidFill>
              </a:rPr>
              <a:t>6 production SQL queries: MRR trend, churn by tier, cohort retention, engagement scoring, partner utilisation, at-risk export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34086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3DD9C4"/>
                </a:solidFill>
              </a:rPr>
              <a:t>✓  </a:t>
            </a:r>
            <a:r>
              <a:rPr lang="en-US" sz="1150" dirty="0">
                <a:solidFill>
                  <a:srgbClr val="FFFFFF"/>
                </a:solidFill>
              </a:rPr>
              <a:t>Critical finding: Basic churn at 3.3× Premium — represents largest addressable revenue risk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96265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3DD9C4"/>
                </a:solidFill>
              </a:rPr>
              <a:t>✓  </a:t>
            </a:r>
            <a:r>
              <a:rPr lang="en-US" sz="1150" dirty="0">
                <a:solidFill>
                  <a:srgbClr val="FFFFFF"/>
                </a:solidFill>
              </a:rPr>
              <a:t>576 at-risk members identified and ready for immediate CRM re-engagement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8444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3DD9C4"/>
                </a:solidFill>
              </a:rPr>
              <a:t>✓  </a:t>
            </a:r>
            <a:r>
              <a:rPr lang="en-US" sz="1150" dirty="0">
                <a:solidFill>
                  <a:srgbClr val="FFFFFF"/>
                </a:solidFill>
              </a:rPr>
              <a:t>4 prioritised recommendations with quantified revenue impact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1778</Words>
  <Application>Microsoft Macintosh PowerPoint</Application>
  <PresentationFormat>On-screen Show (16:9)</PresentationFormat>
  <Paragraphs>384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FitTrack Analytics — Stakeholder Presentation</dc:title>
  <dc:subject>PptxGenJS Presentation</dc:subject>
  <dc:creator>PptxGenJS</dc:creator>
  <cp:lastModifiedBy>Rohan Kanchan</cp:lastModifiedBy>
  <cp:revision>3</cp:revision>
  <dcterms:created xsi:type="dcterms:W3CDTF">2026-05-22T06:09:51Z</dcterms:created>
  <dcterms:modified xsi:type="dcterms:W3CDTF">2026-05-22T19:41:47Z</dcterms:modified>
</cp:coreProperties>
</file>